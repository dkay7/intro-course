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B7950F-29D0-4F4C-BA6E-20DEBB532513}">
  <a:tblStyle styleId="{E9B7950F-29D0-4F4C-BA6E-20DEBB5325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6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8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41433234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41433234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4143323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4143323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41433234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41433234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1433234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41433234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41433234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b41433234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a45128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aa45128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41433234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41433234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41433234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b41433234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41433234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41433234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41433234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b41433234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b41433234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b41433234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a45128d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aa45128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41433234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b41433234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41433234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b41433234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41433234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b41433234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b41433234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b41433234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a45128d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a45128d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41433234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41433234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b41433234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b41433234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41433234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41433234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41433234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b41433234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41433234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b41433234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d358c6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8d358c6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41433234_3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b41433234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b41433234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b41433234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b41433234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b41433234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d358c6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d358c6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41433234_3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41433234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41433234_3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41433234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b41433234_3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b41433234_3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41433234_3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41433234_3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41433234_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b41433234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89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100"/>
              <a:t>Представление чисел в памяти компьютера</a:t>
            </a:r>
            <a:endParaRPr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100"/>
              <a:t>Битовые операции</a:t>
            </a:r>
            <a:endParaRPr sz="4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компьютера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Оперативная, RAM: работает только пока компьютер включен. После выключения обнуляется. Быстрая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Постоянная: диск (HDD), SSD: сохраняется и после выключения компьютера. Значительно м</a:t>
            </a:r>
            <a:r>
              <a:rPr lang="ru"/>
              <a:t>едленнее</a:t>
            </a:r>
            <a:r>
              <a:rPr lang="ru"/>
              <a:t> RAM, но энергонезависима.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Флешка – это какая память?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компьютера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24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Будем говорить про RAM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Память устроена очень сложно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Бравые разработчики железа и ОС поддерживают для нас абстракцию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Думать про память можно и нужно как про линейный набор ячеек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781675" y="373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0xAA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0x01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0xC8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0x77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компьютера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24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Индекс (т.е. номер) ячейки памяти называется </a:t>
            </a:r>
            <a:r>
              <a:rPr b="1" lang="ru"/>
              <a:t>адресом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Байт – </a:t>
            </a:r>
            <a:r>
              <a:rPr lang="ru"/>
              <a:t>наименьшая</a:t>
            </a:r>
            <a:r>
              <a:rPr lang="ru"/>
              <a:t> адресуемая единица информации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Где на рисунке байты? Сколько их?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Всегда ли байт = 8 бит?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781675" y="373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0xAA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0x01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0xC8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0x77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компьютера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24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Из определения: байт не всегда 8 бит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 компьютере PDP-8s 1 байт = 12 бит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На современных компьютерах почти везде байт = 8 бит, но это не определение!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На рисунке одна ячейка – две </a:t>
            </a:r>
            <a:r>
              <a:rPr lang="ru"/>
              <a:t>шестнадцатеричные</a:t>
            </a:r>
            <a:r>
              <a:rPr lang="ru"/>
              <a:t> цифры. Почему?</a:t>
            </a:r>
            <a:endParaRPr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781675" y="373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0xAA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0x01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0xC8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0x77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компьютера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24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На рисунке одна ячейка – две шестнадцатеричные цифры. Почему?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Тут байт = 8 бит, т.е. может хранить от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0b00000000 	до 	0b11111111</a:t>
            </a:r>
            <a:br>
              <a:rPr lang="ru"/>
            </a:br>
            <a:r>
              <a:rPr lang="ru"/>
              <a:t>0x00		до	0xFF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Поэтому байт на </a:t>
            </a:r>
            <a:r>
              <a:rPr i="1" lang="ru"/>
              <a:t>современных компьютерах</a:t>
            </a:r>
            <a:r>
              <a:rPr lang="ru"/>
              <a:t> это две 16-ричные цифры</a:t>
            </a:r>
            <a:endParaRPr/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781675" y="373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0xAA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0x01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0xC8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0x77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0x07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25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Рассмотрим целые, положительные числа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 положить такое число в память?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Пусть мы хотим: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	по адресу 0x7 положить число 44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	по адресу 0x9 положить число </a:t>
            </a:r>
            <a:r>
              <a:rPr lang="ru"/>
              <a:t>1032247</a:t>
            </a:r>
            <a:endParaRPr/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числа хранятся в памяти</a:t>
            </a:r>
            <a:endParaRPr/>
          </a:p>
        </p:txBody>
      </p:sp>
      <p:graphicFrame>
        <p:nvGraphicFramePr>
          <p:cNvPr id="95" name="Google Shape;95;p19"/>
          <p:cNvGraphicFramePr/>
          <p:nvPr/>
        </p:nvGraphicFramePr>
        <p:xfrm>
          <a:off x="781675" y="373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  <a:gridCol w="54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??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??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25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Пусть мы хотим: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	по адресу 0x7 положить число 44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Тут все просто: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44</a:t>
            </a:r>
            <a:r>
              <a:rPr baseline="-25000" lang="ru"/>
              <a:t>10</a:t>
            </a:r>
            <a:r>
              <a:rPr lang="ru"/>
              <a:t> = 0x2C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записываем 0x2C в ячейку 7</a:t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числа хранятся в памяти</a:t>
            </a:r>
            <a:endParaRPr/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1810225" y="372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0x2C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??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48384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Пусть мы хотим: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 адресу 0x9 положить число </a:t>
            </a:r>
            <a:r>
              <a:rPr lang="ru"/>
              <a:t>1032247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1032247</a:t>
            </a:r>
            <a:r>
              <a:rPr baseline="-25000" lang="ru"/>
              <a:t>10</a:t>
            </a:r>
            <a:r>
              <a:rPr lang="ru"/>
              <a:t> = 0xFC037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У </a:t>
            </a:r>
            <a:r>
              <a:rPr lang="ru"/>
              <a:t>на</a:t>
            </a:r>
            <a:r>
              <a:rPr lang="ru"/>
              <a:t>с три байта: 0xFC, 0xC0, 0x37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Какой вариант верный?</a:t>
            </a:r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числа хранятся в памяти</a:t>
            </a:r>
            <a:endParaRPr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5150088" y="305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0" name="Google Shape;110;p21"/>
          <p:cNvGraphicFramePr/>
          <p:nvPr/>
        </p:nvGraphicFramePr>
        <p:xfrm>
          <a:off x="5150100" y="199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4838400" cy="3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1032247</a:t>
            </a:r>
            <a:r>
              <a:rPr baseline="-25000" lang="ru"/>
              <a:t>10</a:t>
            </a:r>
            <a:r>
              <a:rPr lang="ru"/>
              <a:t> = 0xFC037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У нас три байта: 0xFC, 0xC0, 0x37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Какой вариант верный?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Верны оба варианта! 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Сверху: big-endian: старший байт располагается по младшему адресу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Снизу: little-endian: </a:t>
            </a:r>
            <a:r>
              <a:rPr lang="ru"/>
              <a:t>старший байт располагается по старшему адресу</a:t>
            </a:r>
            <a:endParaRPr/>
          </a:p>
        </p:txBody>
      </p:sp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числа хранятся в памяти</a:t>
            </a:r>
            <a:endParaRPr/>
          </a:p>
        </p:txBody>
      </p:sp>
      <p:graphicFrame>
        <p:nvGraphicFramePr>
          <p:cNvPr id="117" name="Google Shape;117;p22"/>
          <p:cNvGraphicFramePr/>
          <p:nvPr/>
        </p:nvGraphicFramePr>
        <p:xfrm>
          <a:off x="5153388" y="362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" name="Google Shape;118;p22"/>
          <p:cNvGraphicFramePr/>
          <p:nvPr/>
        </p:nvGraphicFramePr>
        <p:xfrm>
          <a:off x="5150100" y="199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22"/>
          <p:cNvSpPr txBox="1"/>
          <p:nvPr/>
        </p:nvSpPr>
        <p:spPr>
          <a:xfrm>
            <a:off x="5143500" y="1458300"/>
            <a:ext cx="3682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big-endian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5146800" y="3092975"/>
            <a:ext cx="3682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little</a:t>
            </a:r>
            <a:r>
              <a:rPr lang="ru" sz="1800">
                <a:solidFill>
                  <a:schemeClr val="dk2"/>
                </a:solidFill>
              </a:rPr>
              <a:t>-endian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4838400" cy="3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Сверху: big-endian: старший байт располагается по младшему адресу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Снизу: little-endian: старший байт располагается по старшему адресу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Какой вариант логичнее и используется в современных компьютерах?</a:t>
            </a:r>
            <a:endParaRPr/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числа хранятся в памяти</a:t>
            </a:r>
            <a:endParaRPr/>
          </a:p>
        </p:txBody>
      </p:sp>
      <p:graphicFrame>
        <p:nvGraphicFramePr>
          <p:cNvPr id="127" name="Google Shape;127;p23"/>
          <p:cNvGraphicFramePr/>
          <p:nvPr/>
        </p:nvGraphicFramePr>
        <p:xfrm>
          <a:off x="5153388" y="362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23"/>
          <p:cNvGraphicFramePr/>
          <p:nvPr/>
        </p:nvGraphicFramePr>
        <p:xfrm>
          <a:off x="5150100" y="199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613725"/>
                <a:gridCol w="613725"/>
                <a:gridCol w="613725"/>
                <a:gridCol w="613725"/>
                <a:gridCol w="613725"/>
                <a:gridCol w="61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….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0xFC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0xC0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0x37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...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3"/>
          <p:cNvSpPr txBox="1"/>
          <p:nvPr/>
        </p:nvSpPr>
        <p:spPr>
          <a:xfrm>
            <a:off x="5143500" y="1458300"/>
            <a:ext cx="3682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big-endian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5146800" y="3092975"/>
            <a:ext cx="3682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little-endian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Задания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Записать в big-, little-endian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59774123759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4352359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12192683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11209477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Пора задуматься про другие числа!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Проблема: как представить знак числа?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Проблема: как представить знак числа?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Очевидная идея: выделить один бит, который будет указывать знак числа.</a:t>
            </a: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старший бит хранит знак числа: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“0” – положительное число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“1” – отрицательное число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Оставшиеся биты хранят модуль числа.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Примеры*: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+5</a:t>
            </a:r>
            <a:r>
              <a:rPr baseline="-25000" lang="ru"/>
              <a:t>10</a:t>
            </a:r>
            <a:r>
              <a:rPr lang="ru"/>
              <a:t>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00000101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-5</a:t>
            </a:r>
            <a:r>
              <a:rPr baseline="-25000" lang="ru"/>
              <a:t>10</a:t>
            </a:r>
            <a:r>
              <a:rPr lang="ru"/>
              <a:t> 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10000101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прямой код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4229900" y="4215500"/>
            <a:ext cx="4567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E9E9E"/>
                </a:solidFill>
              </a:rPr>
              <a:t>*здесь и далее в примерах рассматриваем 8-битные числа</a:t>
            </a:r>
            <a:endParaRPr sz="12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прямой код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старший бит хранит знак числа: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“0” – положительное число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“1” – отрицательное число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Оставшиеся биты хранят модуль числа.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Какие проблемы возникают при таком представлении?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прямой код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старший бит хранит знак числа: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“0” – положительное число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“1” – отрицательное число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Оставшиеся биты хранят модуль числа.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Проблемы</a:t>
            </a:r>
            <a:r>
              <a:rPr lang="ru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Два нуля: +0</a:t>
            </a:r>
            <a:r>
              <a:rPr baseline="-25000" lang="ru"/>
              <a:t>10 </a:t>
            </a:r>
            <a:r>
              <a:rPr lang="ru"/>
              <a:t>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00000000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/>
              <a:t> и -0</a:t>
            </a:r>
            <a:r>
              <a:rPr baseline="-25000" lang="ru"/>
              <a:t>10</a:t>
            </a:r>
            <a:r>
              <a:rPr lang="ru"/>
              <a:t>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10000000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Арифметические операции усложняются: знак и модуль приходится обрабатывать отдельно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обратный код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04506" y="114528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д</a:t>
            </a:r>
            <a:r>
              <a:rPr lang="ru"/>
              <a:t>ля получения отрицательного числа инвертируем все биты соответствующего положительного числа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Примеры: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+5</a:t>
            </a:r>
            <a:r>
              <a:rPr baseline="-25000" lang="ru"/>
              <a:t>10</a:t>
            </a:r>
            <a:r>
              <a:rPr lang="ru"/>
              <a:t>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00000101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-5</a:t>
            </a:r>
            <a:r>
              <a:rPr baseline="-25000" lang="ru"/>
              <a:t>10</a:t>
            </a:r>
            <a:r>
              <a:rPr lang="ru"/>
              <a:t> 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11111010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обратный код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04506" y="114528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для получения отрицательного числа инвертируем все биты соответствующего положительного числа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Какие плюсы/минусы у такого представления?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Кодирование отрицательных чисел: обратный код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297313" y="11380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для получения отрицательного числа инвертируем все биты соответствующего положительного числа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Плюсы: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Легко изменить знак числа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Арифметические операции значительно проще, чем в прямом кодировании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Минусы</a:t>
            </a:r>
            <a:r>
              <a:rPr b="1" lang="ru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Все еще существует два представления нуля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При сложении необходимо перенос из старшего бита прибавлять к младшему биту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Кодирование отрицательных чисел: дополнительный код</a:t>
            </a:r>
            <a:endParaRPr sz="2420"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04506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для получения отрицательного числа инвертируем все биты соответствующего положительного числа и прибавляем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Диапазон чисел, представимых с помощью N бит: [−2</a:t>
            </a:r>
            <a:r>
              <a:rPr baseline="30000" lang="ru"/>
              <a:t>N - 1</a:t>
            </a:r>
            <a:r>
              <a:rPr lang="ru"/>
              <a:t>; 2</a:t>
            </a:r>
            <a:r>
              <a:rPr baseline="30000" lang="ru"/>
              <a:t>N - 1</a:t>
            </a:r>
            <a:r>
              <a:rPr lang="ru"/>
              <a:t> − 1]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Примеры: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+5</a:t>
            </a:r>
            <a:r>
              <a:rPr baseline="-25000" lang="ru"/>
              <a:t>10</a:t>
            </a:r>
            <a:r>
              <a:rPr lang="ru"/>
              <a:t>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00000101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-5</a:t>
            </a:r>
            <a:r>
              <a:rPr baseline="-25000" lang="ru"/>
              <a:t>10</a:t>
            </a:r>
            <a:r>
              <a:rPr lang="ru"/>
              <a:t>  =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11111011</a:t>
            </a:r>
            <a:r>
              <a:rPr baseline="-25000" lang="ru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Кодирование отрицательных чисел: дополнительный код</a:t>
            </a:r>
            <a:endParaRPr sz="2420"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04506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Идея</a:t>
            </a:r>
            <a:r>
              <a:rPr lang="ru"/>
              <a:t>: для получения отрицательного числа инвертируем все биты соответствующего положительного числа и прибавляем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Диапазон чисел, представимых с помощью N бит: [−2</a:t>
            </a:r>
            <a:r>
              <a:rPr baseline="30000" lang="ru"/>
              <a:t>N - 1</a:t>
            </a:r>
            <a:r>
              <a:rPr lang="ru"/>
              <a:t>; 2</a:t>
            </a:r>
            <a:r>
              <a:rPr baseline="30000" lang="ru"/>
              <a:t>N - 1</a:t>
            </a:r>
            <a:r>
              <a:rPr lang="ru"/>
              <a:t> − 1]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Плюсы</a:t>
            </a:r>
            <a:r>
              <a:rPr b="1" lang="ru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Легко выполнять арифметические операции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Существует только одно представление нуля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Кодирование отрицательных чисел: примеры</a:t>
            </a:r>
            <a:endParaRPr sz="2420"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04506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Необходимо перевести числа в выражении в дополнительный код, вычислить значение, перевести обратно: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42 - 69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-3 - 12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-44 + 63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228 - 322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Битовые операции это операции, которые выполняются независимо для каждой пары битов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Каждую операцию можно представить таблицей истинности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Таблица истинности – способ задания логического выражения или операции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0" name="Google Shape;210;p36"/>
          <p:cNvGraphicFramePr/>
          <p:nvPr/>
        </p:nvGraphicFramePr>
        <p:xfrm>
          <a:off x="3024300" y="29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1031800"/>
                <a:gridCol w="1031800"/>
                <a:gridCol w="103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 &amp;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операции: and, or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and, побитовое “и” </a:t>
            </a:r>
            <a:r>
              <a:rPr lang="ru"/>
              <a:t>&amp;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or, побитовое “или” |</a:t>
            </a:r>
            <a:endParaRPr/>
          </a:p>
        </p:txBody>
      </p:sp>
      <p:graphicFrame>
        <p:nvGraphicFramePr>
          <p:cNvPr id="218" name="Google Shape;218;p37"/>
          <p:cNvGraphicFramePr/>
          <p:nvPr/>
        </p:nvGraphicFramePr>
        <p:xfrm>
          <a:off x="894150" y="186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1031800"/>
                <a:gridCol w="1031800"/>
                <a:gridCol w="103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 &amp;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9" name="Google Shape;219;p37"/>
          <p:cNvGraphicFramePr/>
          <p:nvPr/>
        </p:nvGraphicFramePr>
        <p:xfrm>
          <a:off x="5154450" y="186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1031800"/>
                <a:gridCol w="1031800"/>
                <a:gridCol w="103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 |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операции: xor, nand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xor, “исключающее или” (^) :</a:t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nand, “НЕ-И”:</a:t>
            </a:r>
            <a:endParaRPr/>
          </a:p>
        </p:txBody>
      </p:sp>
      <p:graphicFrame>
        <p:nvGraphicFramePr>
          <p:cNvPr id="227" name="Google Shape;227;p38"/>
          <p:cNvGraphicFramePr/>
          <p:nvPr/>
        </p:nvGraphicFramePr>
        <p:xfrm>
          <a:off x="894150" y="186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1031800"/>
                <a:gridCol w="1031800"/>
                <a:gridCol w="103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 ^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38"/>
          <p:cNvGraphicFramePr/>
          <p:nvPr/>
        </p:nvGraphicFramePr>
        <p:xfrm>
          <a:off x="5154450" y="186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{E9B7950F-29D0-4F4C-BA6E-20DEBB532513}</a:tableStyleId>
              </a:tblPr>
              <a:tblGrid>
                <a:gridCol w="1031800"/>
                <a:gridCol w="1031800"/>
                <a:gridCol w="103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 nand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операции: сдвиг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152475"/>
            <a:ext cx="5987700" cy="3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Сдвиг влево (&lt;&lt;) – все биты сдвигаются влево, младшие биты = 0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/>
              <a:t>Пример</a:t>
            </a:r>
            <a:r>
              <a:rPr lang="ru"/>
              <a:t>: 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0000 1011</a:t>
            </a:r>
            <a:r>
              <a:rPr lang="ru"/>
              <a:t> &lt;&lt; 2 = </a:t>
            </a:r>
            <a:br>
              <a:rPr lang="ru"/>
            </a:b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0010 1100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1111 1111</a:t>
            </a:r>
            <a:r>
              <a:rPr lang="ru"/>
              <a:t> &lt;&lt; 3 = </a:t>
            </a:r>
            <a:br>
              <a:rPr lang="ru"/>
            </a:b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1111 1000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Сдвиг вправо (&gt;&gt;) – все биты сдвигаются вправо, старшие биты = 0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/>
              <a:t>Пример</a:t>
            </a:r>
            <a:r>
              <a:rPr lang="ru"/>
              <a:t>: 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0000 1011</a:t>
            </a:r>
            <a:r>
              <a:rPr lang="ru"/>
              <a:t> &gt;&gt; 1 = </a:t>
            </a:r>
            <a:br>
              <a:rPr lang="ru"/>
            </a:b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0000 0101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0000  0111</a:t>
            </a:r>
            <a:r>
              <a:rPr lang="ru"/>
              <a:t> &gt;&gt; 3 = </a:t>
            </a:r>
            <a:br>
              <a:rPr lang="ru"/>
            </a:br>
            <a:r>
              <a:rPr lang="ru"/>
              <a:t>				</a:t>
            </a:r>
            <a:r>
              <a:rPr lang="ru">
                <a:latin typeface="Roboto Mono"/>
                <a:ea typeface="Roboto Mono"/>
                <a:cs typeface="Roboto Mono"/>
                <a:sym typeface="Roboto Mono"/>
              </a:rPr>
              <a:t>0000 0000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5" name="Google Shape;2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800" y="1210397"/>
            <a:ext cx="2325100" cy="14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/>
          <p:nvPr/>
        </p:nvSpPr>
        <p:spPr>
          <a:xfrm>
            <a:off x="6213950" y="1145388"/>
            <a:ext cx="2596800" cy="161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9800" y="3061100"/>
            <a:ext cx="2325100" cy="1507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/>
          <p:nvPr/>
        </p:nvSpPr>
        <p:spPr>
          <a:xfrm>
            <a:off x="6213950" y="3006625"/>
            <a:ext cx="2596800" cy="161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Циклические сдвиги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481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циклическом сдвиге уходящий бит появляется на месте появившегося свободного на другом конце числа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/>
              <a:t>Примеры</a:t>
            </a:r>
            <a:r>
              <a:rPr lang="ru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Влево на 1 бит: 1001 → 0011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Вправо на 1 бит: 1001 </a:t>
            </a:r>
            <a:r>
              <a:rPr lang="ru"/>
              <a:t>→ </a:t>
            </a:r>
            <a:r>
              <a:rPr lang="ru"/>
              <a:t>1100 </a:t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300" y="977450"/>
            <a:ext cx="2273600" cy="17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300" y="2946300"/>
            <a:ext cx="2273600" cy="183266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/>
          <p:nvPr/>
        </p:nvSpPr>
        <p:spPr>
          <a:xfrm>
            <a:off x="5760950" y="918050"/>
            <a:ext cx="2496300" cy="191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/>
          <p:nvPr/>
        </p:nvSpPr>
        <p:spPr>
          <a:xfrm>
            <a:off x="5760950" y="2907575"/>
            <a:ext cx="2496300" cy="191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and 0110 1100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or 0110 1100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xor 0110 1100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nand 0110 1100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0111 &lt;&lt;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0111 &gt;&gt;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ROL(1011 0111, 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ROR(1011 0111, 4)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50"/>
          </a:p>
        </p:txBody>
      </p:sp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and 0110 1100 = 0010 0100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or 0110 1100 = 1111 1110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xor 0110 1100 = 1101 1010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0110 nand 0110 1100 = 1101 1011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0111 &lt;&lt; 2 = 1101 1100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1011 0111 &gt;&gt; 3 = 0001 0110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ROL(1011 0111, 1) = 0110 1111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ROR(1011 0111, 4) = 0111 1011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50"/>
          </a:p>
        </p:txBody>
      </p:sp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Битовые операции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Логические схемы</a:t>
            </a:r>
            <a:endParaRPr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52475"/>
            <a:ext cx="874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Любое выражение можно представить как схему. Тут все интуитивно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ru" sz="1400">
                <a:latin typeface="Roboto Mono"/>
                <a:ea typeface="Roboto Mono"/>
                <a:cs typeface="Roboto Mono"/>
                <a:sym typeface="Roboto Mono"/>
              </a:rPr>
              <a:t>(A, B, C) = NOT [(NOT A AND B OR C) XOR A]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3" title="schem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463" y="2378623"/>
            <a:ext cx="6013076" cy="2361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Логические схемы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874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Теперь сами</a:t>
            </a:r>
            <a:endParaRPr/>
          </a:p>
        </p:txBody>
      </p:sp>
      <p:pic>
        <p:nvPicPr>
          <p:cNvPr id="274" name="Google Shape;274;p44" title="schem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662" y="1790749"/>
            <a:ext cx="5355824" cy="2778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Рекап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Что такое байт?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Чем HDD отличается от RAM?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Что такое </a:t>
            </a:r>
            <a:r>
              <a:rPr lang="ru"/>
              <a:t>endianness</a:t>
            </a:r>
            <a:r>
              <a:rPr lang="ru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Какие существуют способы кодирования отрицательных чисел?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Что такое таблица истинности?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Какие логические операции вы знаете?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